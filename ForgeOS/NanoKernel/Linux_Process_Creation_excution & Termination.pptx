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74" r:id="rId16"/>
    <p:sldId id="27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8" d="100"/>
          <a:sy n="68" d="100"/>
        </p:scale>
        <p:origin x="592" y="2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07040" y="-457200"/>
            <a:ext cx="2011680" cy="2011680"/>
          </a:xfrm>
          <a:prstGeom prst="ellipse">
            <a:avLst/>
          </a:prstGeom>
          <a:solidFill>
            <a:srgbClr val="2CD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55680" y="548640"/>
            <a:ext cx="914400" cy="914400"/>
          </a:xfrm>
          <a:prstGeom prst="ellipse">
            <a:avLst/>
          </a:prstGeom>
          <a:solidFill>
            <a:srgbClr val="87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2CD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6605847" cy="17184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4200" b="1" dirty="0">
                <a:solidFill>
                  <a:srgbClr val="F5F8FC"/>
                </a:solidFill>
                <a:latin typeface="Aptos Display"/>
              </a:rPr>
              <a:t>LINUX </a:t>
            </a:r>
            <a:r>
              <a:rPr sz="4200" b="1" dirty="0">
                <a:solidFill>
                  <a:srgbClr val="F5F8FC"/>
                </a:solidFill>
                <a:latin typeface="Aptos Display"/>
              </a:rPr>
              <a:t>PROCESS CREATION</a:t>
            </a:r>
          </a:p>
          <a:p>
            <a:r>
              <a:rPr sz="3400" b="1" dirty="0">
                <a:solidFill>
                  <a:srgbClr val="2CD3C3"/>
                </a:solidFill>
                <a:latin typeface="Aptos Display"/>
              </a:rPr>
              <a:t>EXECUTION &amp; TERMINATION</a:t>
            </a:r>
          </a:p>
          <a:p>
            <a:pPr>
              <a:spcBef>
                <a:spcPts val="1400"/>
              </a:spcBef>
            </a:pPr>
            <a:r>
              <a:rPr sz="1800" dirty="0">
                <a:solidFill>
                  <a:srgbClr val="AAB8CD"/>
                </a:solidFill>
                <a:latin typeface="Aptos"/>
              </a:rPr>
              <a:t>Operating Systems • Linux Process Lifecycle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840480"/>
            <a:ext cx="2057400" cy="640080"/>
          </a:xfrm>
          <a:prstGeom prst="roundRect">
            <a:avLst/>
          </a:prstGeom>
          <a:solidFill>
            <a:srgbClr val="46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4005072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CREATE</a:t>
            </a:r>
          </a:p>
        </p:txBody>
      </p:sp>
      <p:sp>
        <p:nvSpPr>
          <p:cNvPr id="8" name="Chevron 7"/>
          <p:cNvSpPr/>
          <p:nvPr/>
        </p:nvSpPr>
        <p:spPr>
          <a:xfrm>
            <a:off x="2990087" y="4014215"/>
            <a:ext cx="411480" cy="292608"/>
          </a:xfrm>
          <a:prstGeom prst="chevron">
            <a:avLst/>
          </a:prstGeom>
          <a:solidFill>
            <a:srgbClr val="AA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566160" y="3840480"/>
            <a:ext cx="2057400" cy="640080"/>
          </a:xfrm>
          <a:prstGeom prst="roundRect">
            <a:avLst/>
          </a:prstGeom>
          <a:solidFill>
            <a:srgbClr val="2CD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66160" y="4005072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EXECUTE</a:t>
            </a:r>
          </a:p>
        </p:txBody>
      </p:sp>
      <p:sp>
        <p:nvSpPr>
          <p:cNvPr id="11" name="Chevron 10"/>
          <p:cNvSpPr/>
          <p:nvPr/>
        </p:nvSpPr>
        <p:spPr>
          <a:xfrm>
            <a:off x="5687568" y="4014215"/>
            <a:ext cx="411480" cy="292608"/>
          </a:xfrm>
          <a:prstGeom prst="chevron">
            <a:avLst/>
          </a:prstGeom>
          <a:solidFill>
            <a:srgbClr val="AA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63640" y="3840480"/>
            <a:ext cx="2057400" cy="640080"/>
          </a:xfrm>
          <a:prstGeom prst="roundRect">
            <a:avLst/>
          </a:prstGeom>
          <a:solidFill>
            <a:srgbClr val="87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4005072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WAIT</a:t>
            </a:r>
          </a:p>
        </p:txBody>
      </p:sp>
      <p:sp>
        <p:nvSpPr>
          <p:cNvPr id="14" name="Chevron 13"/>
          <p:cNvSpPr/>
          <p:nvPr/>
        </p:nvSpPr>
        <p:spPr>
          <a:xfrm>
            <a:off x="8385048" y="4014215"/>
            <a:ext cx="411480" cy="292608"/>
          </a:xfrm>
          <a:prstGeom prst="chevron">
            <a:avLst/>
          </a:prstGeom>
          <a:solidFill>
            <a:srgbClr val="AA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961120" y="3840480"/>
            <a:ext cx="2057400" cy="640080"/>
          </a:xfrm>
          <a:prstGeom prst="roundRect">
            <a:avLst/>
          </a:prstGeom>
          <a:solidFill>
            <a:srgbClr val="FF5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0" y="4005072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TERMINATE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282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AB8CD"/>
                </a:solidFill>
                <a:latin typeface="Aptos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FB85B5-288D-10A1-DDA9-68FD85F5B88E}"/>
              </a:ext>
            </a:extLst>
          </p:cNvPr>
          <p:cNvSpPr txBox="1"/>
          <p:nvPr/>
        </p:nvSpPr>
        <p:spPr>
          <a:xfrm>
            <a:off x="1590961" y="5112207"/>
            <a:ext cx="27982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2520030489- R. Bhavitha</a:t>
            </a:r>
          </a:p>
          <a:p>
            <a:r>
              <a:rPr lang="en-US" dirty="0">
                <a:solidFill>
                  <a:schemeClr val="bg1"/>
                </a:solidFill>
              </a:rPr>
              <a:t>2520030488- D .Khyathi</a:t>
            </a:r>
          </a:p>
          <a:p>
            <a:r>
              <a:rPr lang="en-US" dirty="0">
                <a:solidFill>
                  <a:schemeClr val="bg1"/>
                </a:solidFill>
              </a:rPr>
              <a:t>2520030510- T. Tejaswini</a:t>
            </a:r>
          </a:p>
          <a:p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07040" y="-457200"/>
            <a:ext cx="2011680" cy="2011680"/>
          </a:xfrm>
          <a:prstGeom prst="ellipse">
            <a:avLst/>
          </a:prstGeom>
          <a:solidFill>
            <a:srgbClr val="2CD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55680" y="548640"/>
            <a:ext cx="914400" cy="914400"/>
          </a:xfrm>
          <a:prstGeom prst="ellipse">
            <a:avLst/>
          </a:prstGeom>
          <a:solidFill>
            <a:srgbClr val="87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2CD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5F8FC"/>
                </a:solidFill>
                <a:latin typeface="Aptos Display"/>
              </a:rPr>
              <a:t>01 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41832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>
                <a:solidFill>
                  <a:srgbClr val="AAB8CD"/>
                </a:solidFill>
                <a:latin typeface="Aptos"/>
              </a:rPr>
              <a:t>A practical view of how Linux creates, executes, synchronizes and terminates processes.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282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AB8CD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3429000" cy="1874519"/>
          </a:xfrm>
          <a:prstGeom prst="roundRect">
            <a:avLst/>
          </a:prstGeom>
          <a:solidFill>
            <a:srgbClr val="18263E"/>
          </a:solidFill>
          <a:ln>
            <a:solidFill>
              <a:srgbClr val="2A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64008" cy="1874519"/>
          </a:xfrm>
          <a:prstGeom prst="rect">
            <a:avLst/>
          </a:prstGeom>
          <a:solidFill>
            <a:srgbClr val="46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645919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682FF"/>
                </a:solidFill>
                <a:latin typeface="Aptos"/>
              </a:rPr>
              <a:t>What is a process?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130552"/>
            <a:ext cx="304495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5F8FC"/>
                </a:solidFill>
                <a:latin typeface="Aptos"/>
              </a:rPr>
              <a:t>A process is a program in execution, with its own state, resources, address space and process identifier (PID).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08760"/>
            <a:ext cx="3429000" cy="1874519"/>
          </a:xfrm>
          <a:prstGeom prst="roundRect">
            <a:avLst/>
          </a:prstGeom>
          <a:solidFill>
            <a:srgbClr val="18263E"/>
          </a:solidFill>
          <a:ln>
            <a:solidFill>
              <a:srgbClr val="2A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508760"/>
            <a:ext cx="64008" cy="1874519"/>
          </a:xfrm>
          <a:prstGeom prst="rect">
            <a:avLst/>
          </a:prstGeom>
          <a:solidFill>
            <a:srgbClr val="2CD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1645919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CD3C3"/>
                </a:solidFill>
                <a:latin typeface="Aptos"/>
              </a:rPr>
              <a:t>Why Linux?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130552"/>
            <a:ext cx="304495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5F8FC"/>
                </a:solidFill>
                <a:latin typeface="Aptos"/>
              </a:rPr>
              <a:t>Linux exposes process operations clearly through system calls, signals, /proc, and commands such as ps, top and kill.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508760"/>
            <a:ext cx="3429000" cy="1874519"/>
          </a:xfrm>
          <a:prstGeom prst="roundRect">
            <a:avLst/>
          </a:prstGeom>
          <a:solidFill>
            <a:srgbClr val="18263E"/>
          </a:solidFill>
          <a:ln>
            <a:solidFill>
              <a:srgbClr val="2A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8160" y="1508760"/>
            <a:ext cx="64008" cy="1874519"/>
          </a:xfrm>
          <a:prstGeom prst="rect">
            <a:avLst/>
          </a:prstGeom>
          <a:solidFill>
            <a:srgbClr val="87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39328" y="1645919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875CFF"/>
                </a:solidFill>
                <a:latin typeface="Aptos"/>
              </a:rPr>
              <a:t>Project Focus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2130552"/>
            <a:ext cx="304495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>
                <a:solidFill>
                  <a:srgbClr val="F5F8FC"/>
                </a:solidFill>
                <a:latin typeface="Aptos"/>
              </a:rPr>
              <a:t>Trace our parent–child program from fork() → exec() → wait() → termination, and observe PIDs and exit status.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886200"/>
            <a:ext cx="10241280" cy="18288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Understand the process lifecycle</a:t>
            </a:r>
          </a:p>
          <a:p>
            <a:pPr>
              <a:spcAft>
                <a:spcPts val="10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Demonstrate fork(), exec(), wait() and exit()</a:t>
            </a:r>
          </a:p>
          <a:p>
            <a:pPr>
              <a:spcAft>
                <a:spcPts val="10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Observe PIDs and parent–child relationships</a:t>
            </a:r>
          </a:p>
          <a:p>
            <a:pPr>
              <a:spcAft>
                <a:spcPts val="10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Explain normal and abnormal termination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07040" y="-457200"/>
            <a:ext cx="2011680" cy="2011680"/>
          </a:xfrm>
          <a:prstGeom prst="ellipse">
            <a:avLst/>
          </a:prstGeom>
          <a:solidFill>
            <a:srgbClr val="87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55680" y="548640"/>
            <a:ext cx="914400" cy="914400"/>
          </a:xfrm>
          <a:prstGeom prst="ellipse">
            <a:avLst/>
          </a:prstGeom>
          <a:solidFill>
            <a:srgbClr val="87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87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5F8FC"/>
                </a:solidFill>
                <a:latin typeface="Aptos Display"/>
              </a:rPr>
              <a:t>02  Abstract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41832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B8CD"/>
                </a:solidFill>
                <a:latin typeface="Aptos"/>
              </a:rPr>
              <a:t>The project connects OS theory with observable Linux behavior.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282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AB8CD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10789920" cy="1920240"/>
          </a:xfrm>
          <a:prstGeom prst="roundRect">
            <a:avLst/>
          </a:prstGeom>
          <a:solidFill>
            <a:srgbClr val="18263E"/>
          </a:solidFill>
          <a:ln>
            <a:solidFill>
              <a:srgbClr val="2A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64008" cy="1920240"/>
          </a:xfrm>
          <a:prstGeom prst="rect">
            <a:avLst/>
          </a:prstGeom>
          <a:solidFill>
            <a:srgbClr val="87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554480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875CFF"/>
                </a:solidFill>
                <a:latin typeface="Aptos"/>
              </a:rPr>
              <a:t>Abstract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039112"/>
            <a:ext cx="1040587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>
                <a:solidFill>
                  <a:srgbClr val="F5F8FC"/>
                </a:solidFill>
                <a:latin typeface="Aptos"/>
              </a:rPr>
              <a:t>Process management is a core operating-system function. This project demonstrates a simple Linux parent–child process lifecycle using fork(), exec(), wait() and exit(). The parent creates a child; the child uses execlp() to execute the ls -l command; the parent waits for the child and collects its exit status. PIDs, PPIDs and execution output make the lifecycle observable.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657600"/>
            <a:ext cx="3383280" cy="1600200"/>
          </a:xfrm>
          <a:prstGeom prst="roundRect">
            <a:avLst/>
          </a:prstGeom>
          <a:solidFill>
            <a:srgbClr val="18263E"/>
          </a:solidFill>
          <a:ln>
            <a:solidFill>
              <a:srgbClr val="2A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3657600"/>
            <a:ext cx="64008" cy="1600200"/>
          </a:xfrm>
          <a:prstGeom prst="rect">
            <a:avLst/>
          </a:prstGeom>
          <a:solidFill>
            <a:srgbClr val="46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379476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682FF"/>
                </a:solidFill>
                <a:latin typeface="Aptos"/>
              </a:rPr>
              <a:t>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279392"/>
            <a:ext cx="299923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>
                <a:solidFill>
                  <a:srgbClr val="F5F8FC"/>
                </a:solidFill>
                <a:latin typeface="Aptos"/>
              </a:rPr>
              <a:t>User runs ./process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657600"/>
            <a:ext cx="3383280" cy="1600200"/>
          </a:xfrm>
          <a:prstGeom prst="roundRect">
            <a:avLst/>
          </a:prstGeom>
          <a:solidFill>
            <a:srgbClr val="18263E"/>
          </a:solidFill>
          <a:ln>
            <a:solidFill>
              <a:srgbClr val="2A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89120" y="3657600"/>
            <a:ext cx="64008" cy="1600200"/>
          </a:xfrm>
          <a:prstGeom prst="rect">
            <a:avLst/>
          </a:prstGeom>
          <a:solidFill>
            <a:srgbClr val="2CD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90288" y="379476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CD3C3"/>
                </a:solidFill>
                <a:latin typeface="Aptos"/>
              </a:rPr>
              <a:t>Processing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4279392"/>
            <a:ext cx="299923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>
                <a:solidFill>
                  <a:srgbClr val="F5F8FC"/>
                </a:solidFill>
                <a:latin typeface="Aptos"/>
              </a:rPr>
              <a:t>Kernel creates and schedules parent/child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657600"/>
            <a:ext cx="3383280" cy="1600200"/>
          </a:xfrm>
          <a:prstGeom prst="roundRect">
            <a:avLst/>
          </a:prstGeom>
          <a:solidFill>
            <a:srgbClr val="18263E"/>
          </a:solidFill>
          <a:ln>
            <a:solidFill>
              <a:srgbClr val="2A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92440" y="3657600"/>
            <a:ext cx="64008" cy="1600200"/>
          </a:xfrm>
          <a:prstGeom prst="rect">
            <a:avLst/>
          </a:prstGeom>
          <a:solidFill>
            <a:srgbClr val="45D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93608" y="379476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5D384"/>
                </a:solidFill>
                <a:latin typeface="Aptos"/>
              </a:rPr>
              <a:t>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8" y="4279392"/>
            <a:ext cx="299923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>
                <a:solidFill>
                  <a:srgbClr val="F5F8FC"/>
                </a:solidFill>
                <a:latin typeface="Aptos"/>
              </a:rPr>
              <a:t>PID, PPID, ls output &amp; exit status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07040" y="-457200"/>
            <a:ext cx="2011680" cy="2011680"/>
          </a:xfrm>
          <a:prstGeom prst="ellipse">
            <a:avLst/>
          </a:prstGeom>
          <a:solidFill>
            <a:srgbClr val="2CD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55680" y="548640"/>
            <a:ext cx="914400" cy="914400"/>
          </a:xfrm>
          <a:prstGeom prst="ellipse">
            <a:avLst/>
          </a:prstGeom>
          <a:solidFill>
            <a:srgbClr val="87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2CD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5F8FC"/>
                </a:solidFill>
                <a:latin typeface="Aptos Display"/>
              </a:rPr>
              <a:t>03 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41832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B8CD"/>
                </a:solidFill>
                <a:latin typeface="Aptos"/>
              </a:rPr>
              <a:t>The gap between a program and a running process is the key OS concept.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282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AB8CD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5212080" cy="4343400"/>
          </a:xfrm>
          <a:prstGeom prst="roundRect">
            <a:avLst/>
          </a:prstGeom>
          <a:solidFill>
            <a:srgbClr val="18263E"/>
          </a:solidFill>
          <a:ln>
            <a:solidFill>
              <a:srgbClr val="2A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64008" cy="4343400"/>
          </a:xfrm>
          <a:prstGeom prst="rect">
            <a:avLst/>
          </a:prstGeom>
          <a:solidFill>
            <a:srgbClr val="FF5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55448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5F64"/>
                </a:solidFill>
                <a:latin typeface="Aptos"/>
              </a:rPr>
              <a:t>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039112"/>
            <a:ext cx="4828032" cy="3593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5F8FC"/>
                </a:solidFill>
                <a:latin typeface="Aptos"/>
              </a:rPr>
              <a:t>Students can run a Linux command, but the internal lifecycle is often invisible. It is difficult to see when a process is created, how a child inherits execution context, how a new program is loaded, how the scheduler controls execution, and how the kernel records termination.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17320"/>
            <a:ext cx="5212080" cy="4343400"/>
          </a:xfrm>
          <a:prstGeom prst="roundRect">
            <a:avLst/>
          </a:prstGeom>
          <a:solidFill>
            <a:srgbClr val="18263E"/>
          </a:solidFill>
          <a:ln>
            <a:solidFill>
              <a:srgbClr val="2A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1417320"/>
            <a:ext cx="64008" cy="4343400"/>
          </a:xfrm>
          <a:prstGeom prst="rect">
            <a:avLst/>
          </a:prstGeom>
          <a:solidFill>
            <a:srgbClr val="2CD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73368" y="155448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CD3C3"/>
                </a:solidFill>
                <a:latin typeface="Aptos"/>
              </a:rPr>
              <a:t>Proposed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039112"/>
            <a:ext cx="4828032" cy="3593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>
                <a:solidFill>
                  <a:srgbClr val="F5F8FC"/>
                </a:solidFill>
                <a:latin typeface="Aptos"/>
              </a:rPr>
              <a:t>Build a compact Linux process-lifecycle demonstration that:
• creates a child with fork()
• executes ls -l in the child using execlp()
• lets the parent synchronize using wait()
• terminates using exit()
• observes PID, PPID and exit status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07040" y="-457200"/>
            <a:ext cx="2011680" cy="2011680"/>
          </a:xfrm>
          <a:prstGeom prst="ellipse">
            <a:avLst/>
          </a:prstGeom>
          <a:solidFill>
            <a:srgbClr val="2CD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55680" y="548640"/>
            <a:ext cx="914400" cy="914400"/>
          </a:xfrm>
          <a:prstGeom prst="ellipse">
            <a:avLst/>
          </a:prstGeom>
          <a:solidFill>
            <a:srgbClr val="87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2CD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5F8FC"/>
                </a:solidFill>
                <a:latin typeface="Aptos Display"/>
              </a:rPr>
              <a:t>04 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41832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B8CD"/>
                </a:solidFill>
                <a:latin typeface="Aptos"/>
              </a:rPr>
              <a:t>What the project should demonstrate by the 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282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AB8CD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5074920" cy="1783080"/>
          </a:xfrm>
          <a:prstGeom prst="roundRect">
            <a:avLst/>
          </a:prstGeom>
          <a:solidFill>
            <a:srgbClr val="18263E"/>
          </a:solidFill>
          <a:ln>
            <a:solidFill>
              <a:srgbClr val="2A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64008" cy="1783080"/>
          </a:xfrm>
          <a:prstGeom prst="rect">
            <a:avLst/>
          </a:prstGeom>
          <a:solidFill>
            <a:srgbClr val="46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554480"/>
            <a:ext cx="47091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4682FF"/>
                </a:solidFill>
                <a:latin typeface="Aptos"/>
              </a:rPr>
              <a:t>01  Create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039112"/>
            <a:ext cx="4690872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5F8FC"/>
                </a:solidFill>
                <a:latin typeface="Aptos"/>
              </a:rPr>
              <a:t>Understand fork() and parent/child process creation.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074920" cy="1783080"/>
          </a:xfrm>
          <a:prstGeom prst="roundRect">
            <a:avLst/>
          </a:prstGeom>
          <a:solidFill>
            <a:srgbClr val="18263E"/>
          </a:solidFill>
          <a:ln>
            <a:solidFill>
              <a:srgbClr val="2A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417320"/>
            <a:ext cx="64008" cy="1783080"/>
          </a:xfrm>
          <a:prstGeom prst="rect">
            <a:avLst/>
          </a:prstGeom>
          <a:solidFill>
            <a:srgbClr val="2CD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7" y="1554480"/>
            <a:ext cx="47091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CD3C3"/>
                </a:solidFill>
                <a:latin typeface="Aptos"/>
              </a:rPr>
              <a:t>02  Execute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2039112"/>
            <a:ext cx="4690872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5F8FC"/>
                </a:solidFill>
                <a:latin typeface="Aptos"/>
              </a:rPr>
              <a:t>Explain scheduling, ready/running states and exec().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657600"/>
            <a:ext cx="5074920" cy="1783080"/>
          </a:xfrm>
          <a:prstGeom prst="roundRect">
            <a:avLst/>
          </a:prstGeom>
          <a:solidFill>
            <a:srgbClr val="18263E"/>
          </a:solidFill>
          <a:ln>
            <a:solidFill>
              <a:srgbClr val="2A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3657600"/>
            <a:ext cx="64008" cy="1783080"/>
          </a:xfrm>
          <a:prstGeom prst="rect">
            <a:avLst/>
          </a:prstGeom>
          <a:solidFill>
            <a:srgbClr val="87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3794760"/>
            <a:ext cx="47091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875CFF"/>
                </a:solidFill>
                <a:latin typeface="Aptos"/>
              </a:rPr>
              <a:t>03  Synchronize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279392"/>
            <a:ext cx="4690872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5F8FC"/>
                </a:solidFill>
                <a:latin typeface="Aptos"/>
              </a:rPr>
              <a:t>Use wait()/waitpid() to coordinate parent and child.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57600"/>
            <a:ext cx="5074920" cy="1783080"/>
          </a:xfrm>
          <a:prstGeom prst="roundRect">
            <a:avLst/>
          </a:prstGeom>
          <a:solidFill>
            <a:srgbClr val="18263E"/>
          </a:solidFill>
          <a:ln>
            <a:solidFill>
              <a:srgbClr val="2A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63640" y="3657600"/>
            <a:ext cx="64008" cy="1783080"/>
          </a:xfrm>
          <a:prstGeom prst="rect">
            <a:avLst/>
          </a:prstGeom>
          <a:solidFill>
            <a:srgbClr val="FF5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64807" y="3794760"/>
            <a:ext cx="47091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5F64"/>
                </a:solidFill>
                <a:latin typeface="Aptos"/>
              </a:rPr>
              <a:t>04  Terminate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7" y="4279392"/>
            <a:ext cx="4690872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solidFill>
                  <a:srgbClr val="F5F8FC"/>
                </a:solidFill>
                <a:latin typeface="Aptos"/>
              </a:rPr>
              <a:t>Explain normal termination and the child's exit status.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07040" y="-457200"/>
            <a:ext cx="2011680" cy="2011680"/>
          </a:xfrm>
          <a:prstGeom prst="ellipse">
            <a:avLst/>
          </a:prstGeom>
          <a:solidFill>
            <a:srgbClr val="2CD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55680" y="548640"/>
            <a:ext cx="914400" cy="914400"/>
          </a:xfrm>
          <a:prstGeom prst="ellipse">
            <a:avLst/>
          </a:prstGeom>
          <a:solidFill>
            <a:srgbClr val="87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2CD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5F8FC"/>
                </a:solidFill>
                <a:latin typeface="Aptos Display"/>
              </a:rPr>
              <a:t>05  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41832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B8CD"/>
                </a:solidFill>
                <a:latin typeface="Aptos"/>
              </a:rPr>
              <a:t>Application → system calls → Linux kernel → process resources.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282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AB8CD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2057400" cy="914400"/>
          </a:xfrm>
          <a:prstGeom prst="roundRect">
            <a:avLst/>
          </a:prstGeom>
          <a:solidFill>
            <a:srgbClr val="18263E"/>
          </a:solidFill>
          <a:ln>
            <a:solidFill>
              <a:srgbClr val="2A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64008" cy="914400"/>
          </a:xfrm>
          <a:prstGeom prst="rect">
            <a:avLst/>
          </a:prstGeom>
          <a:solidFill>
            <a:srgbClr val="46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2286000"/>
            <a:ext cx="1691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4682FF"/>
                </a:solidFill>
                <a:latin typeface="Aptos"/>
              </a:rPr>
              <a:t>User / Shell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770632"/>
            <a:ext cx="1673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246120" y="2148840"/>
            <a:ext cx="2148840" cy="914400"/>
          </a:xfrm>
          <a:prstGeom prst="roundRect">
            <a:avLst/>
          </a:prstGeom>
          <a:solidFill>
            <a:srgbClr val="18263E"/>
          </a:solidFill>
          <a:ln>
            <a:solidFill>
              <a:srgbClr val="2A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46120" y="2148840"/>
            <a:ext cx="64008" cy="914400"/>
          </a:xfrm>
          <a:prstGeom prst="rect">
            <a:avLst/>
          </a:prstGeom>
          <a:solidFill>
            <a:srgbClr val="2CD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47288" y="2286000"/>
            <a:ext cx="1783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CD3C3"/>
                </a:solidFill>
                <a:latin typeface="Aptos"/>
              </a:rPr>
              <a:t>Process Program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2770632"/>
            <a:ext cx="17647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989320" y="2148840"/>
            <a:ext cx="2148840" cy="914400"/>
          </a:xfrm>
          <a:prstGeom prst="roundRect">
            <a:avLst/>
          </a:prstGeom>
          <a:solidFill>
            <a:srgbClr val="18263E"/>
          </a:solidFill>
          <a:ln>
            <a:solidFill>
              <a:srgbClr val="2A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89320" y="2148840"/>
            <a:ext cx="64008" cy="914400"/>
          </a:xfrm>
          <a:prstGeom prst="rect">
            <a:avLst/>
          </a:prstGeom>
          <a:solidFill>
            <a:srgbClr val="87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90488" y="2286000"/>
            <a:ext cx="1783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875CFF"/>
                </a:solidFill>
                <a:latin typeface="Aptos"/>
              </a:rPr>
              <a:t>System Calls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0488" y="2770632"/>
            <a:ext cx="17647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732520" y="2148840"/>
            <a:ext cx="2148840" cy="914400"/>
          </a:xfrm>
          <a:prstGeom prst="roundRect">
            <a:avLst/>
          </a:prstGeom>
          <a:solidFill>
            <a:srgbClr val="18263E"/>
          </a:solidFill>
          <a:ln>
            <a:solidFill>
              <a:srgbClr val="2A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732520" y="2148840"/>
            <a:ext cx="64008" cy="914400"/>
          </a:xfrm>
          <a:prstGeom prst="rect">
            <a:avLst/>
          </a:prstGeom>
          <a:solidFill>
            <a:srgbClr val="FFA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33688" y="2286000"/>
            <a:ext cx="1783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AE50"/>
                </a:solidFill>
                <a:latin typeface="Aptos"/>
              </a:rPr>
              <a:t>Linux Kernel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3688" y="2770632"/>
            <a:ext cx="17647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24" name="Chevron 23"/>
          <p:cNvSpPr/>
          <p:nvPr/>
        </p:nvSpPr>
        <p:spPr>
          <a:xfrm>
            <a:off x="2697480" y="2441448"/>
            <a:ext cx="384048" cy="347472"/>
          </a:xfrm>
          <a:prstGeom prst="chevron">
            <a:avLst/>
          </a:prstGeom>
          <a:solidFill>
            <a:srgbClr val="AA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Chevron 24"/>
          <p:cNvSpPr/>
          <p:nvPr/>
        </p:nvSpPr>
        <p:spPr>
          <a:xfrm>
            <a:off x="5440680" y="2441448"/>
            <a:ext cx="384048" cy="347472"/>
          </a:xfrm>
          <a:prstGeom prst="chevron">
            <a:avLst/>
          </a:prstGeom>
          <a:solidFill>
            <a:srgbClr val="AA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Chevron 25"/>
          <p:cNvSpPr/>
          <p:nvPr/>
        </p:nvSpPr>
        <p:spPr>
          <a:xfrm>
            <a:off x="8183879" y="2441448"/>
            <a:ext cx="384048" cy="347472"/>
          </a:xfrm>
          <a:prstGeom prst="chevron">
            <a:avLst/>
          </a:prstGeom>
          <a:solidFill>
            <a:srgbClr val="AA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828800" y="3886200"/>
            <a:ext cx="8503920" cy="1325880"/>
          </a:xfrm>
          <a:prstGeom prst="roundRect">
            <a:avLst/>
          </a:prstGeom>
          <a:solidFill>
            <a:srgbClr val="18263E"/>
          </a:solidFill>
          <a:ln>
            <a:solidFill>
              <a:srgbClr val="2A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828800" y="3886200"/>
            <a:ext cx="64008" cy="1325880"/>
          </a:xfrm>
          <a:prstGeom prst="rect">
            <a:avLst/>
          </a:prstGeom>
          <a:solidFill>
            <a:srgbClr val="45D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029968" y="402336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5D384"/>
                </a:solidFill>
                <a:latin typeface="Aptos"/>
              </a:rPr>
              <a:t>Kernel-managed process context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29968" y="4507992"/>
            <a:ext cx="811987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5F8FC"/>
                </a:solidFill>
                <a:latin typeface="Aptos"/>
              </a:rPr>
              <a:t>PID • PPID • CPU state • memory mappings • open files • scheduling information • exit status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07040" y="-457200"/>
            <a:ext cx="2011680" cy="2011680"/>
          </a:xfrm>
          <a:prstGeom prst="ellipse">
            <a:avLst/>
          </a:prstGeom>
          <a:solidFill>
            <a:srgbClr val="2CD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55680" y="548640"/>
            <a:ext cx="914400" cy="914400"/>
          </a:xfrm>
          <a:prstGeom prst="ellipse">
            <a:avLst/>
          </a:prstGeom>
          <a:solidFill>
            <a:srgbClr val="87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2CD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5F8FC"/>
                </a:solidFill>
                <a:latin typeface="Aptos Display"/>
              </a:rPr>
              <a:t>06  Process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41832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B8CD"/>
                </a:solidFill>
                <a:latin typeface="Aptos"/>
              </a:rPr>
              <a:t>Linux moves processes through states as the scheduler and kernel respond to events.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282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AB8CD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11680"/>
            <a:ext cx="1874519" cy="1143000"/>
          </a:xfrm>
          <a:prstGeom prst="roundRect">
            <a:avLst/>
          </a:prstGeom>
          <a:solidFill>
            <a:srgbClr val="18263E"/>
          </a:solidFill>
          <a:ln>
            <a:solidFill>
              <a:srgbClr val="46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212848"/>
            <a:ext cx="187451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4682FF"/>
                </a:solidFill>
                <a:latin typeface="Aptos"/>
              </a:rPr>
              <a:t>NEW</a:t>
            </a:r>
          </a:p>
          <a:p>
            <a:pPr algn="ctr"/>
            <a:r>
              <a:rPr sz="1100">
                <a:solidFill>
                  <a:srgbClr val="AAB8CD"/>
                </a:solidFill>
                <a:latin typeface="Aptos"/>
              </a:rPr>
              <a:t>created</a:t>
            </a:r>
          </a:p>
        </p:txBody>
      </p:sp>
      <p:sp>
        <p:nvSpPr>
          <p:cNvPr id="10" name="Chevron 9"/>
          <p:cNvSpPr/>
          <p:nvPr/>
        </p:nvSpPr>
        <p:spPr>
          <a:xfrm>
            <a:off x="2441448" y="2395728"/>
            <a:ext cx="320040" cy="365760"/>
          </a:xfrm>
          <a:prstGeom prst="chevron">
            <a:avLst/>
          </a:prstGeom>
          <a:solidFill>
            <a:srgbClr val="AA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834639" y="2011680"/>
            <a:ext cx="1874519" cy="1143000"/>
          </a:xfrm>
          <a:prstGeom prst="roundRect">
            <a:avLst/>
          </a:prstGeom>
          <a:solidFill>
            <a:srgbClr val="18263E"/>
          </a:solidFill>
          <a:ln>
            <a:solidFill>
              <a:srgbClr val="2CD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34639" y="2212848"/>
            <a:ext cx="187451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2CD3C3"/>
                </a:solidFill>
                <a:latin typeface="Aptos"/>
              </a:rPr>
              <a:t>READY</a:t>
            </a:r>
          </a:p>
          <a:p>
            <a:pPr algn="ctr"/>
            <a:r>
              <a:rPr sz="1100">
                <a:solidFill>
                  <a:srgbClr val="AAB8CD"/>
                </a:solidFill>
                <a:latin typeface="Aptos"/>
              </a:rPr>
              <a:t>runnable</a:t>
            </a:r>
          </a:p>
        </p:txBody>
      </p:sp>
      <p:sp>
        <p:nvSpPr>
          <p:cNvPr id="13" name="Chevron 12"/>
          <p:cNvSpPr/>
          <p:nvPr/>
        </p:nvSpPr>
        <p:spPr>
          <a:xfrm>
            <a:off x="4773168" y="2395728"/>
            <a:ext cx="320040" cy="365760"/>
          </a:xfrm>
          <a:prstGeom prst="chevron">
            <a:avLst/>
          </a:prstGeom>
          <a:solidFill>
            <a:srgbClr val="AA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166359" y="2011680"/>
            <a:ext cx="1874519" cy="1143000"/>
          </a:xfrm>
          <a:prstGeom prst="roundRect">
            <a:avLst/>
          </a:prstGeom>
          <a:solidFill>
            <a:srgbClr val="18263E"/>
          </a:solidFill>
          <a:ln>
            <a:solidFill>
              <a:srgbClr val="45D3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66359" y="2212848"/>
            <a:ext cx="187451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45D384"/>
                </a:solidFill>
                <a:latin typeface="Aptos"/>
              </a:rPr>
              <a:t>RUNNING</a:t>
            </a:r>
          </a:p>
          <a:p>
            <a:pPr algn="ctr"/>
            <a:r>
              <a:rPr sz="1100">
                <a:solidFill>
                  <a:srgbClr val="AAB8CD"/>
                </a:solidFill>
                <a:latin typeface="Aptos"/>
              </a:rPr>
              <a:t>on CPU</a:t>
            </a:r>
          </a:p>
        </p:txBody>
      </p:sp>
      <p:sp>
        <p:nvSpPr>
          <p:cNvPr id="16" name="Chevron 15"/>
          <p:cNvSpPr/>
          <p:nvPr/>
        </p:nvSpPr>
        <p:spPr>
          <a:xfrm>
            <a:off x="7104888" y="2395728"/>
            <a:ext cx="320040" cy="365760"/>
          </a:xfrm>
          <a:prstGeom prst="chevron">
            <a:avLst/>
          </a:prstGeom>
          <a:solidFill>
            <a:srgbClr val="AA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498079" y="2011680"/>
            <a:ext cx="1874519" cy="1143000"/>
          </a:xfrm>
          <a:prstGeom prst="roundRect">
            <a:avLst/>
          </a:prstGeom>
          <a:solidFill>
            <a:srgbClr val="18263E"/>
          </a:solidFill>
          <a:ln>
            <a:solidFill>
              <a:srgbClr val="87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79" y="2212848"/>
            <a:ext cx="187451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875CFF"/>
                </a:solidFill>
                <a:latin typeface="Aptos"/>
              </a:rPr>
              <a:t>WAITING</a:t>
            </a:r>
          </a:p>
          <a:p>
            <a:pPr algn="ctr"/>
            <a:r>
              <a:rPr sz="1100">
                <a:solidFill>
                  <a:srgbClr val="AAB8CD"/>
                </a:solidFill>
                <a:latin typeface="Aptos"/>
              </a:rPr>
              <a:t>blocked</a:t>
            </a:r>
          </a:p>
        </p:txBody>
      </p:sp>
      <p:sp>
        <p:nvSpPr>
          <p:cNvPr id="19" name="Chevron 18"/>
          <p:cNvSpPr/>
          <p:nvPr/>
        </p:nvSpPr>
        <p:spPr>
          <a:xfrm>
            <a:off x="9436608" y="2395728"/>
            <a:ext cx="320040" cy="365760"/>
          </a:xfrm>
          <a:prstGeom prst="chevron">
            <a:avLst/>
          </a:prstGeom>
          <a:solidFill>
            <a:srgbClr val="AA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829800" y="2011680"/>
            <a:ext cx="1874519" cy="1143000"/>
          </a:xfrm>
          <a:prstGeom prst="roundRect">
            <a:avLst/>
          </a:prstGeom>
          <a:solidFill>
            <a:srgbClr val="18263E"/>
          </a:solidFill>
          <a:ln>
            <a:solidFill>
              <a:srgbClr val="FF5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29800" y="2212848"/>
            <a:ext cx="187451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5F64"/>
                </a:solidFill>
                <a:latin typeface="Aptos"/>
              </a:rPr>
              <a:t>TERMINATED</a:t>
            </a:r>
          </a:p>
          <a:p>
            <a:pPr algn="ctr"/>
            <a:r>
              <a:rPr sz="1100">
                <a:solidFill>
                  <a:srgbClr val="AAB8CD"/>
                </a:solidFill>
                <a:latin typeface="Aptos"/>
              </a:rPr>
              <a:t>finished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886200"/>
            <a:ext cx="10058400" cy="13716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rPr/>
              <a:t>• Our program demonstrates creation, execution, waiting and termination; ps can be used to observe processes.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07040" y="-457200"/>
            <a:ext cx="2011680" cy="2011680"/>
          </a:xfrm>
          <a:prstGeom prst="ellipse">
            <a:avLst/>
          </a:prstGeom>
          <a:solidFill>
            <a:srgbClr val="2CD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55680" y="548640"/>
            <a:ext cx="914400" cy="914400"/>
          </a:xfrm>
          <a:prstGeom prst="ellipse">
            <a:avLst/>
          </a:prstGeom>
          <a:solidFill>
            <a:srgbClr val="87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2CD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5F8FC"/>
                </a:solidFill>
                <a:latin typeface="Aptos Display"/>
              </a:rPr>
              <a:t>07  Process Creation — fork()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41832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B8CD"/>
                </a:solidFill>
                <a:latin typeface="Aptos"/>
              </a:rPr>
              <a:t>fork() creates a new child process from the calling process.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282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AB8CD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5029200" cy="4206240"/>
          </a:xfrm>
          <a:prstGeom prst="roundRect">
            <a:avLst/>
          </a:prstGeom>
          <a:solidFill>
            <a:srgbClr val="080E1B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554480"/>
            <a:ext cx="4700016" cy="397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C3E1FF"/>
                </a:solidFill>
                <a:latin typeface="Consolas"/>
              </a:rPr>
              <a:t>pid_t pid = fork();
if (pid == 0) {
    // child process
} else if (pid &gt; 0) {
    // parent process
} else {
    // creation failed
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417320"/>
            <a:ext cx="5303520" cy="1325880"/>
          </a:xfrm>
          <a:prstGeom prst="roundRect">
            <a:avLst/>
          </a:prstGeom>
          <a:solidFill>
            <a:srgbClr val="18263E"/>
          </a:solidFill>
          <a:ln>
            <a:solidFill>
              <a:srgbClr val="2A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80760" y="1417320"/>
            <a:ext cx="64008" cy="1325880"/>
          </a:xfrm>
          <a:prstGeom prst="rect">
            <a:avLst/>
          </a:prstGeom>
          <a:solidFill>
            <a:srgbClr val="46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81928" y="1554480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682FF"/>
                </a:solidFill>
                <a:latin typeface="Aptos"/>
              </a:rPr>
              <a:t>Parent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1928" y="2039112"/>
            <a:ext cx="491947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5F8FC"/>
                </a:solidFill>
                <a:latin typeface="Aptos"/>
              </a:rPr>
              <a:t>fork() returns the child PID to the parent.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2971800"/>
            <a:ext cx="5303520" cy="1325880"/>
          </a:xfrm>
          <a:prstGeom prst="roundRect">
            <a:avLst/>
          </a:prstGeom>
          <a:solidFill>
            <a:srgbClr val="18263E"/>
          </a:solidFill>
          <a:ln>
            <a:solidFill>
              <a:srgbClr val="2A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80760" y="2971800"/>
            <a:ext cx="64008" cy="1325880"/>
          </a:xfrm>
          <a:prstGeom prst="rect">
            <a:avLst/>
          </a:prstGeom>
          <a:solidFill>
            <a:srgbClr val="2CD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81928" y="3108960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CD3C3"/>
                </a:solidFill>
                <a:latin typeface="Aptos"/>
              </a:rPr>
              <a:t>Child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8" y="3593592"/>
            <a:ext cx="491947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5F8FC"/>
                </a:solidFill>
                <a:latin typeface="Aptos"/>
              </a:rPr>
              <a:t>fork() returns 0 in the child, which follows the child branch.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526280"/>
            <a:ext cx="5303520" cy="1097280"/>
          </a:xfrm>
          <a:prstGeom prst="roundRect">
            <a:avLst/>
          </a:prstGeom>
          <a:solidFill>
            <a:srgbClr val="18263E"/>
          </a:solidFill>
          <a:ln>
            <a:solidFill>
              <a:srgbClr val="2A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80760" y="4526280"/>
            <a:ext cx="64008" cy="1097280"/>
          </a:xfrm>
          <a:prstGeom prst="rect">
            <a:avLst/>
          </a:prstGeom>
          <a:solidFill>
            <a:srgbClr val="87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81928" y="4663440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875CFF"/>
                </a:solidFill>
                <a:latin typeface="Aptos"/>
              </a:rPr>
              <a:t>Key idea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5148072"/>
            <a:ext cx="4919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5F8FC"/>
                </a:solidFill>
                <a:latin typeface="Aptos"/>
              </a:rPr>
              <a:t>The two processes continue independently from the fork point.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07040" y="-457200"/>
            <a:ext cx="2011680" cy="2011680"/>
          </a:xfrm>
          <a:prstGeom prst="ellipse">
            <a:avLst/>
          </a:prstGeom>
          <a:solidFill>
            <a:srgbClr val="2CD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55680" y="548640"/>
            <a:ext cx="914400" cy="914400"/>
          </a:xfrm>
          <a:prstGeom prst="ellipse">
            <a:avLst/>
          </a:prstGeom>
          <a:solidFill>
            <a:srgbClr val="87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2CD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5F8FC"/>
                </a:solidFill>
                <a:latin typeface="Aptos Display"/>
              </a:rPr>
              <a:t>08  Execution — exec()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41832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B8CD"/>
                </a:solidFill>
                <a:latin typeface="Aptos"/>
              </a:rPr>
              <a:t>exec() replaces the current process image with a new program.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282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AB8CD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5303520" cy="2743200"/>
          </a:xfrm>
          <a:prstGeom prst="roundRect">
            <a:avLst/>
          </a:prstGeom>
          <a:solidFill>
            <a:srgbClr val="080E1B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554480"/>
            <a:ext cx="4974336" cy="2514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500">
                <a:solidFill>
                  <a:srgbClr val="C3E1FF"/>
                </a:solidFill>
                <a:latin typeface="Consolas"/>
              </a:rPr>
              <a:t>execlp("ls", "ls", "-l", NULL);
/* If exec succeeds, the child continues
   as the ls program. The old program image
   does not continue beyond this call. */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166360" cy="1325880"/>
          </a:xfrm>
          <a:prstGeom prst="roundRect">
            <a:avLst/>
          </a:prstGeom>
          <a:solidFill>
            <a:srgbClr val="18263E"/>
          </a:solidFill>
          <a:ln>
            <a:solidFill>
              <a:srgbClr val="2A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417320"/>
            <a:ext cx="64008" cy="1325880"/>
          </a:xfrm>
          <a:prstGeom prst="rect">
            <a:avLst/>
          </a:prstGeom>
          <a:solidFill>
            <a:srgbClr val="2CD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73368" y="155448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CD3C3"/>
                </a:solidFill>
                <a:latin typeface="Aptos"/>
              </a:rPr>
              <a:t>fork vs exec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039112"/>
            <a:ext cx="478231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F5F8FC"/>
                </a:solidFill>
                <a:latin typeface="Aptos"/>
              </a:rPr>
              <a:t>fork() creates the child process; exec() loads a different program into that existing child.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971800"/>
            <a:ext cx="5166360" cy="1325880"/>
          </a:xfrm>
          <a:prstGeom prst="roundRect">
            <a:avLst/>
          </a:prstGeom>
          <a:solidFill>
            <a:srgbClr val="18263E"/>
          </a:solidFill>
          <a:ln>
            <a:solidFill>
              <a:srgbClr val="2A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2971800"/>
            <a:ext cx="64008" cy="1325880"/>
          </a:xfrm>
          <a:prstGeom prst="rect">
            <a:avLst/>
          </a:prstGeom>
          <a:solidFill>
            <a:srgbClr val="87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73368" y="310896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875CFF"/>
                </a:solidFill>
                <a:latin typeface="Aptos"/>
              </a:rPr>
              <a:t>Typical 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3593592"/>
            <a:ext cx="478231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F5F8FC"/>
                </a:solidFill>
                <a:latin typeface="Aptos"/>
              </a:rPr>
              <a:t>Our program: parent → fork() → child → execlp() → ls -l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526280"/>
            <a:ext cx="5166360" cy="1097280"/>
          </a:xfrm>
          <a:prstGeom prst="roundRect">
            <a:avLst/>
          </a:prstGeom>
          <a:solidFill>
            <a:srgbClr val="18263E"/>
          </a:solidFill>
          <a:ln>
            <a:solidFill>
              <a:srgbClr val="2A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4526280"/>
            <a:ext cx="64008" cy="1097280"/>
          </a:xfrm>
          <a:prstGeom prst="rect">
            <a:avLst/>
          </a:prstGeom>
          <a:solidFill>
            <a:srgbClr val="45D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73368" y="466344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5D384"/>
                </a:solidFill>
                <a:latin typeface="Aptos"/>
              </a:rPr>
              <a:t>PID note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5148072"/>
            <a:ext cx="4782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F5F8FC"/>
                </a:solidFill>
                <a:latin typeface="Aptos"/>
              </a:rPr>
              <a:t>exec() normally preserves the child's PID while replacing its program image.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07040" y="-457200"/>
            <a:ext cx="2011680" cy="2011680"/>
          </a:xfrm>
          <a:prstGeom prst="ellipse">
            <a:avLst/>
          </a:prstGeom>
          <a:solidFill>
            <a:srgbClr val="87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55680" y="548640"/>
            <a:ext cx="914400" cy="914400"/>
          </a:xfrm>
          <a:prstGeom prst="ellipse">
            <a:avLst/>
          </a:prstGeom>
          <a:solidFill>
            <a:srgbClr val="87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87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5F8FC"/>
                </a:solidFill>
                <a:latin typeface="Aptos Display"/>
              </a:rPr>
              <a:t>09  Synchronization — wait()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41832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B8CD"/>
                </a:solidFill>
                <a:latin typeface="Aptos"/>
              </a:rPr>
              <a:t>The parent can wait for a child and collect its termination status.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282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AB8CD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5120640" cy="3246120"/>
          </a:xfrm>
          <a:prstGeom prst="roundRect">
            <a:avLst/>
          </a:prstGeom>
          <a:solidFill>
            <a:srgbClr val="080E1B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554480"/>
            <a:ext cx="4791455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>
                <a:solidFill>
                  <a:srgbClr val="C3E1FF"/>
                </a:solidFill>
                <a:latin typeface="Consolas"/>
              </a:rPr>
              <a:t>int status;
wait(&amp;status);
if (WIFEXITED(status)) {
    printf("Child exit status: %d\n",
           WEXITSTATUS(status));
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120640" cy="1280160"/>
          </a:xfrm>
          <a:prstGeom prst="roundRect">
            <a:avLst/>
          </a:prstGeom>
          <a:solidFill>
            <a:srgbClr val="18263E"/>
          </a:solidFill>
          <a:ln>
            <a:solidFill>
              <a:srgbClr val="2A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417320"/>
            <a:ext cx="64008" cy="1280160"/>
          </a:xfrm>
          <a:prstGeom prst="rect">
            <a:avLst/>
          </a:prstGeom>
          <a:solidFill>
            <a:srgbClr val="2CD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73368" y="1554480"/>
            <a:ext cx="47548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CD3C3"/>
                </a:solidFill>
                <a:latin typeface="Aptos"/>
              </a:rPr>
              <a:t>Why wait?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039112"/>
            <a:ext cx="47365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F5F8FC"/>
                </a:solidFill>
                <a:latin typeface="Aptos"/>
              </a:rPr>
              <a:t>Synchronizes the parent with the child and collects the child's termination status.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926080"/>
            <a:ext cx="5120640" cy="1280160"/>
          </a:xfrm>
          <a:prstGeom prst="roundRect">
            <a:avLst/>
          </a:prstGeom>
          <a:solidFill>
            <a:srgbClr val="18263E"/>
          </a:solidFill>
          <a:ln>
            <a:solidFill>
              <a:srgbClr val="2A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2926080"/>
            <a:ext cx="64008" cy="1280160"/>
          </a:xfrm>
          <a:prstGeom prst="rect">
            <a:avLst/>
          </a:prstGeom>
          <a:solidFill>
            <a:srgbClr val="FF5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73368" y="3063240"/>
            <a:ext cx="47548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5F64"/>
                </a:solidFill>
                <a:latin typeface="Aptos"/>
              </a:rPr>
              <a:t>Zombie prevention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3547872"/>
            <a:ext cx="47365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F5F8FC"/>
                </a:solidFill>
                <a:latin typeface="Aptos"/>
              </a:rPr>
              <a:t>wait() also reaps the terminated child so its process-table entry does not remain as a zombie.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434840"/>
            <a:ext cx="5120640" cy="1280160"/>
          </a:xfrm>
          <a:prstGeom prst="roundRect">
            <a:avLst/>
          </a:prstGeom>
          <a:solidFill>
            <a:srgbClr val="18263E"/>
          </a:solidFill>
          <a:ln>
            <a:solidFill>
              <a:srgbClr val="2A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4434840"/>
            <a:ext cx="64008" cy="1280160"/>
          </a:xfrm>
          <a:prstGeom prst="rect">
            <a:avLst/>
          </a:prstGeom>
          <a:solidFill>
            <a:srgbClr val="46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73368" y="4572000"/>
            <a:ext cx="47548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682FF"/>
                </a:solidFill>
                <a:latin typeface="Aptos"/>
              </a:rPr>
              <a:t>Useful variants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5056631"/>
            <a:ext cx="47365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5F8FC"/>
                </a:solidFill>
                <a:latin typeface="Aptos"/>
              </a:rPr>
              <a:t>waitpid() provides more control over which child is waited for.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07040" y="-457200"/>
            <a:ext cx="2011680" cy="2011680"/>
          </a:xfrm>
          <a:prstGeom prst="ellipse">
            <a:avLst/>
          </a:prstGeom>
          <a:solidFill>
            <a:srgbClr val="2CD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55680" y="548640"/>
            <a:ext cx="914400" cy="914400"/>
          </a:xfrm>
          <a:prstGeom prst="ellipse">
            <a:avLst/>
          </a:prstGeom>
          <a:solidFill>
            <a:srgbClr val="87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2CD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5F8FC"/>
                </a:solidFill>
                <a:latin typeface="Aptos Display"/>
              </a:rPr>
              <a:t>10  Process Termination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41832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B8CD"/>
                </a:solidFill>
                <a:latin typeface="Aptos"/>
              </a:rPr>
              <a:t>Termination can be normal or caused by a signal.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282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AB8CD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429000" cy="2011680"/>
          </a:xfrm>
          <a:prstGeom prst="roundRect">
            <a:avLst/>
          </a:prstGeom>
          <a:solidFill>
            <a:srgbClr val="18263E"/>
          </a:solidFill>
          <a:ln>
            <a:solidFill>
              <a:srgbClr val="2A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64008" cy="2011680"/>
          </a:xfrm>
          <a:prstGeom prst="rect">
            <a:avLst/>
          </a:prstGeom>
          <a:solidFill>
            <a:srgbClr val="45D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554480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45D384"/>
                </a:solidFill>
                <a:latin typeface="Aptos"/>
              </a:rPr>
              <a:t>Normal return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039112"/>
            <a:ext cx="3044952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5F8FC"/>
                </a:solidFill>
                <a:latin typeface="Aptos"/>
              </a:rPr>
              <a:t>Returning from main() ends the process and provides an exit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429000" cy="2011680"/>
          </a:xfrm>
          <a:prstGeom prst="roundRect">
            <a:avLst/>
          </a:prstGeom>
          <a:solidFill>
            <a:srgbClr val="18263E"/>
          </a:solidFill>
          <a:ln>
            <a:solidFill>
              <a:srgbClr val="2A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417320"/>
            <a:ext cx="64008" cy="2011680"/>
          </a:xfrm>
          <a:prstGeom prst="rect">
            <a:avLst/>
          </a:prstGeom>
          <a:solidFill>
            <a:srgbClr val="2CD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1554480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CD3C3"/>
                </a:solidFill>
                <a:latin typeface="Aptos"/>
              </a:rPr>
              <a:t>exit()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039112"/>
            <a:ext cx="3044952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5F8FC"/>
                </a:solidFill>
                <a:latin typeface="Aptos"/>
              </a:rPr>
              <a:t>exit(status) terminates the process and performs standard cleanup actions.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417320"/>
            <a:ext cx="3429000" cy="2011680"/>
          </a:xfrm>
          <a:prstGeom prst="roundRect">
            <a:avLst/>
          </a:prstGeom>
          <a:solidFill>
            <a:srgbClr val="18263E"/>
          </a:solidFill>
          <a:ln>
            <a:solidFill>
              <a:srgbClr val="2A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8160" y="1417320"/>
            <a:ext cx="64008" cy="2011680"/>
          </a:xfrm>
          <a:prstGeom prst="rect">
            <a:avLst/>
          </a:prstGeom>
          <a:solidFill>
            <a:srgbClr val="FF5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39328" y="1554480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5F64"/>
                </a:solidFill>
                <a:latin typeface="Aptos"/>
              </a:rPr>
              <a:t>Signals (related concept)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2039112"/>
            <a:ext cx="3044952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solidFill>
                  <a:srgbClr val="F5F8FC"/>
                </a:solidFill>
                <a:latin typeface="Aptos"/>
              </a:rPr>
              <a:t>Signals such as SIGTERM or SIGKILL can also terminate processes, but signals are not part of our core demo.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77639"/>
            <a:ext cx="10149840" cy="150876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rPr/>
              <a:t>• Our program uses normal termination and returns exit status 0.
• The parent retrieves the child's status using wait().
• The child is reaped by the parent, avoiding a lingering zombie entry.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07040" y="-457200"/>
            <a:ext cx="2011680" cy="2011680"/>
          </a:xfrm>
          <a:prstGeom prst="ellipse">
            <a:avLst/>
          </a:prstGeom>
          <a:solidFill>
            <a:srgbClr val="2CD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55680" y="548640"/>
            <a:ext cx="914400" cy="914400"/>
          </a:xfrm>
          <a:prstGeom prst="ellipse">
            <a:avLst/>
          </a:prstGeom>
          <a:solidFill>
            <a:srgbClr val="87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2CD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5F8FC"/>
                </a:solidFill>
                <a:latin typeface="Aptos Display"/>
              </a:rPr>
              <a:t>11  Mini Project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41832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>
                <a:solidFill>
                  <a:srgbClr val="AAB8CD"/>
                </a:solidFill>
                <a:latin typeface="Aptos"/>
              </a:rPr>
              <a:t>Parent creates a child; child executes ls using exec(); parent waits and collects exit status.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282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AB8CD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34440"/>
            <a:ext cx="6766560" cy="5074920"/>
          </a:xfrm>
          <a:prstGeom prst="roundRect">
            <a:avLst/>
          </a:prstGeom>
          <a:solidFill>
            <a:srgbClr val="080E1B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371600"/>
            <a:ext cx="6437376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900">
                <a:solidFill>
                  <a:srgbClr val="C3E1FF"/>
                </a:solidFill>
                <a:latin typeface="Consolas"/>
              </a:rPr>
              <a:t>#include &lt;stdio.h&gt;
#include &lt;stdlib.h&gt;
#include &lt;unistd.h&gt;
#include &lt;sys/wait.h&gt;
int main()
{
    pid_t pid;
    int status;
    printf("Parent PID: %d\n", getpid());
    pid = fork();
    if (pid == 0) {
        printf("Child PID: %d\n", getpid());
        printf("Parent PID: %d\n", getppid());
        printf("Child is executing 'ls'...\n");
        execlp("ls", "ls", "-l", NULL);
        perror("exec failed");
        exit(1);
    }
    else if (pid &gt; 0) {
        printf("Parent is waiting for child...\n");
        wait(&amp;status);
        printf("Child exit status: %d\n", WEXITSTATUS(status));
        printf("Parent process terminating.\n");
        exit(0);
    }
    perror("fork failed");
    return 1;
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325880"/>
            <a:ext cx="3840480" cy="1234440"/>
          </a:xfrm>
          <a:prstGeom prst="roundRect">
            <a:avLst/>
          </a:prstGeom>
          <a:solidFill>
            <a:srgbClr val="18263E"/>
          </a:solidFill>
          <a:ln>
            <a:solidFill>
              <a:srgbClr val="2A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35240" y="1325880"/>
            <a:ext cx="64008" cy="1234440"/>
          </a:xfrm>
          <a:prstGeom prst="rect">
            <a:avLst/>
          </a:prstGeom>
          <a:solidFill>
            <a:srgbClr val="46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36408" y="1463039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4682FF"/>
                </a:solidFill>
                <a:latin typeface="Aptos"/>
              </a:rPr>
              <a:t>Step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6408" y="1947672"/>
            <a:ext cx="34564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>
                <a:solidFill>
                  <a:srgbClr val="F5F8FC"/>
                </a:solidFill>
                <a:latin typeface="Aptos"/>
              </a:rPr>
              <a:t>fork() creates the child.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2743200"/>
            <a:ext cx="3840480" cy="1234440"/>
          </a:xfrm>
          <a:prstGeom prst="roundRect">
            <a:avLst/>
          </a:prstGeom>
          <a:solidFill>
            <a:srgbClr val="18263E"/>
          </a:solidFill>
          <a:ln>
            <a:solidFill>
              <a:srgbClr val="2A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35240" y="2743200"/>
            <a:ext cx="64008" cy="1234440"/>
          </a:xfrm>
          <a:prstGeom prst="rect">
            <a:avLst/>
          </a:prstGeom>
          <a:solidFill>
            <a:srgbClr val="2CD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36408" y="288036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CD3C3"/>
                </a:solidFill>
                <a:latin typeface="Aptos"/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36408" y="3364992"/>
            <a:ext cx="34564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>
                <a:solidFill>
                  <a:srgbClr val="F5F8FC"/>
                </a:solidFill>
                <a:latin typeface="Aptos"/>
              </a:rPr>
              <a:t>Child prints PID/PPID and uses execlp() to run ls -l.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4160520"/>
            <a:ext cx="3840480" cy="1234440"/>
          </a:xfrm>
          <a:prstGeom prst="roundRect">
            <a:avLst/>
          </a:prstGeom>
          <a:solidFill>
            <a:srgbClr val="18263E"/>
          </a:solidFill>
          <a:ln>
            <a:solidFill>
              <a:srgbClr val="2A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635240" y="4160520"/>
            <a:ext cx="64008" cy="1234440"/>
          </a:xfrm>
          <a:prstGeom prst="rect">
            <a:avLst/>
          </a:prstGeom>
          <a:solidFill>
            <a:srgbClr val="45D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36408" y="429768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45D384"/>
                </a:solidFill>
                <a:latin typeface="Aptos"/>
              </a:rP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36408" y="4782312"/>
            <a:ext cx="34564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>
                <a:solidFill>
                  <a:srgbClr val="F5F8FC"/>
                </a:solidFill>
                <a:latin typeface="Aptos"/>
              </a:rPr>
              <a:t>Parent waits, reads exit status 0, then terminates.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07040" y="-457200"/>
            <a:ext cx="2011680" cy="2011680"/>
          </a:xfrm>
          <a:prstGeom prst="ellipse">
            <a:avLst/>
          </a:prstGeom>
          <a:solidFill>
            <a:srgbClr val="2CD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55680" y="548640"/>
            <a:ext cx="914400" cy="914400"/>
          </a:xfrm>
          <a:prstGeom prst="ellipse">
            <a:avLst/>
          </a:prstGeom>
          <a:solidFill>
            <a:srgbClr val="87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2CD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5F8FC"/>
                </a:solidFill>
                <a:latin typeface="Aptos Display"/>
              </a:rPr>
              <a:t>12  Linux Execution Commands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41832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B8CD"/>
                </a:solidFill>
                <a:latin typeface="Aptos"/>
              </a:rPr>
              <a:t>Compile, run and observe the process from the terminal.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282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AB8CD"/>
                </a:solidFill>
                <a:latin typeface="Apto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5715000" cy="4160520"/>
          </a:xfrm>
          <a:prstGeom prst="roundRect">
            <a:avLst/>
          </a:prstGeom>
          <a:solidFill>
            <a:srgbClr val="080E1B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554480"/>
            <a:ext cx="5385816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>
                <a:solidFill>
                  <a:srgbClr val="C3E1FF"/>
                </a:solidFill>
                <a:latin typeface="Consolas"/>
              </a:rPr>
              <a:t>gcc process.c -o process
./process
# Observe processes
ps -ef | grep process
# Live monitoring
top
# Optional: send a signal to a suitable PID
kill -TERM &lt;PID&gt;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1417320"/>
            <a:ext cx="4572000" cy="1097280"/>
          </a:xfrm>
          <a:prstGeom prst="roundRect">
            <a:avLst/>
          </a:prstGeom>
          <a:solidFill>
            <a:srgbClr val="18263E"/>
          </a:solidFill>
          <a:ln>
            <a:solidFill>
              <a:srgbClr val="2A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12280" y="1417320"/>
            <a:ext cx="64008" cy="1097280"/>
          </a:xfrm>
          <a:prstGeom prst="rect">
            <a:avLst/>
          </a:prstGeom>
          <a:solidFill>
            <a:srgbClr val="46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13448" y="1554480"/>
            <a:ext cx="4206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4682FF"/>
                </a:solidFill>
                <a:latin typeface="Aptos"/>
              </a:rPr>
              <a:t>gcc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3448" y="2039112"/>
            <a:ext cx="4187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5F8FC"/>
                </a:solidFill>
                <a:latin typeface="Aptos"/>
              </a:rPr>
              <a:t>Compiles the C source into an executable.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2697480"/>
            <a:ext cx="4572000" cy="1097280"/>
          </a:xfrm>
          <a:prstGeom prst="roundRect">
            <a:avLst/>
          </a:prstGeom>
          <a:solidFill>
            <a:srgbClr val="18263E"/>
          </a:solidFill>
          <a:ln>
            <a:solidFill>
              <a:srgbClr val="2A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12280" y="2697480"/>
            <a:ext cx="64008" cy="1097280"/>
          </a:xfrm>
          <a:prstGeom prst="rect">
            <a:avLst/>
          </a:prstGeom>
          <a:solidFill>
            <a:srgbClr val="2CD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13448" y="2834640"/>
            <a:ext cx="4206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500" b="1">
                <a:solidFill>
                  <a:srgbClr val="2CD3C3"/>
                </a:solidFill>
                <a:latin typeface="Aptos"/>
              </a:rPr>
              <a:t>./process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3448" y="3319272"/>
            <a:ext cx="4187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>
                <a:solidFill>
                  <a:srgbClr val="F5F8FC"/>
                </a:solidFill>
                <a:latin typeface="Aptos"/>
              </a:rPr>
              <a:t>./process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12280" y="3977639"/>
            <a:ext cx="4572000" cy="1097280"/>
          </a:xfrm>
          <a:prstGeom prst="roundRect">
            <a:avLst/>
          </a:prstGeom>
          <a:solidFill>
            <a:srgbClr val="18263E"/>
          </a:solidFill>
          <a:ln>
            <a:solidFill>
              <a:srgbClr val="2A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12280" y="3977639"/>
            <a:ext cx="64008" cy="1097280"/>
          </a:xfrm>
          <a:prstGeom prst="rect">
            <a:avLst/>
          </a:prstGeom>
          <a:solidFill>
            <a:srgbClr val="87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13448" y="4114800"/>
            <a:ext cx="4206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875CFF"/>
                </a:solidFill>
                <a:latin typeface="Aptos"/>
              </a:rPr>
              <a:t>ps / top / kill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448" y="4599431"/>
            <a:ext cx="4187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>
                <a:solidFill>
                  <a:srgbClr val="F5F8FC"/>
                </a:solidFill>
                <a:latin typeface="Aptos"/>
              </a:rPr>
              <a:t>Use ps/top to observe processes; kill is an optional Linux signal command, not part of the core demo.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07040" y="-457200"/>
            <a:ext cx="2011680" cy="2011680"/>
          </a:xfrm>
          <a:prstGeom prst="ellipse">
            <a:avLst/>
          </a:prstGeom>
          <a:solidFill>
            <a:srgbClr val="2CD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55680" y="548640"/>
            <a:ext cx="914400" cy="914400"/>
          </a:xfrm>
          <a:prstGeom prst="ellipse">
            <a:avLst/>
          </a:prstGeom>
          <a:solidFill>
            <a:srgbClr val="87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2CD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7600000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600" b="1">
                <a:solidFill>
                  <a:srgbClr val="F5F8FC"/>
                </a:solidFill>
                <a:latin typeface="Aptos Display"/>
              </a:rPr>
              <a:t>13  Core System Calls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41832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>
                <a:solidFill>
                  <a:srgbClr val="AAB8CD"/>
                </a:solidFill>
                <a:latin typeface="Aptos"/>
              </a:rPr>
              <a:t>Core system calls and helper functions used in our actual program.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282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AB8CD"/>
                </a:solidFill>
                <a:latin typeface="Aptos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371600"/>
            <a:ext cx="2103120" cy="594360"/>
          </a:xfrm>
          <a:prstGeom prst="rect">
            <a:avLst/>
          </a:prstGeom>
          <a:solidFill>
            <a:srgbClr val="18263E"/>
          </a:solidFill>
          <a:ln>
            <a:solidFill>
              <a:srgbClr val="37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1517904"/>
            <a:ext cx="19568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CD3C3"/>
                </a:solidFill>
                <a:latin typeface="Aptos"/>
              </a:rPr>
              <a:t>Call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1371600"/>
            <a:ext cx="2286000" cy="594360"/>
          </a:xfrm>
          <a:prstGeom prst="rect">
            <a:avLst/>
          </a:prstGeom>
          <a:solidFill>
            <a:srgbClr val="18263E"/>
          </a:solidFill>
          <a:ln>
            <a:solidFill>
              <a:srgbClr val="37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62072" y="1517904"/>
            <a:ext cx="21396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CD3C3"/>
                </a:solidFill>
                <a:latin typeface="Aptos"/>
              </a:rPr>
              <a:t>Purpose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66360" y="1371600"/>
            <a:ext cx="2286000" cy="594360"/>
          </a:xfrm>
          <a:prstGeom prst="rect">
            <a:avLst/>
          </a:prstGeom>
          <a:solidFill>
            <a:srgbClr val="18263E"/>
          </a:solidFill>
          <a:ln>
            <a:solidFill>
              <a:srgbClr val="37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39512" y="1517904"/>
            <a:ext cx="21396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CD3C3"/>
                </a:solidFill>
                <a:latin typeface="Aptos"/>
              </a:rPr>
              <a:t>Typical return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43800" y="1371600"/>
            <a:ext cx="2057400" cy="594360"/>
          </a:xfrm>
          <a:prstGeom prst="rect">
            <a:avLst/>
          </a:prstGeom>
          <a:solidFill>
            <a:srgbClr val="18263E"/>
          </a:solidFill>
          <a:ln>
            <a:solidFill>
              <a:srgbClr val="37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16952" y="1517904"/>
            <a:ext cx="1911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CD3C3"/>
                </a:solidFill>
                <a:latin typeface="Aptos"/>
              </a:rPr>
              <a:t>Lifecycle role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92640" y="1371600"/>
            <a:ext cx="1828800" cy="594360"/>
          </a:xfrm>
          <a:prstGeom prst="rect">
            <a:avLst/>
          </a:prstGeom>
          <a:solidFill>
            <a:srgbClr val="18263E"/>
          </a:solidFill>
          <a:ln>
            <a:solidFill>
              <a:srgbClr val="37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765792" y="1517904"/>
            <a:ext cx="16824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CD3C3"/>
                </a:solidFill>
                <a:latin typeface="Aptos"/>
              </a:rPr>
              <a:t>Related tool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2011680"/>
            <a:ext cx="2103120" cy="658368"/>
          </a:xfrm>
          <a:prstGeom prst="rect">
            <a:avLst/>
          </a:prstGeom>
          <a:solidFill>
            <a:srgbClr val="121F33"/>
          </a:solidFill>
          <a:ln>
            <a:solidFill>
              <a:srgbClr val="2D3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7512" y="2167128"/>
            <a:ext cx="19568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5F8FC"/>
                </a:solidFill>
                <a:latin typeface="Aptos"/>
              </a:rPr>
              <a:t>fork()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011680"/>
            <a:ext cx="2286000" cy="658368"/>
          </a:xfrm>
          <a:prstGeom prst="rect">
            <a:avLst/>
          </a:prstGeom>
          <a:solidFill>
            <a:srgbClr val="121F33"/>
          </a:solidFill>
          <a:ln>
            <a:solidFill>
              <a:srgbClr val="2D3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862072" y="2167128"/>
            <a:ext cx="21396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5F8FC"/>
                </a:solidFill>
                <a:latin typeface="Aptos"/>
              </a:rPr>
              <a:t>Create child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66360" y="2011680"/>
            <a:ext cx="2286000" cy="658368"/>
          </a:xfrm>
          <a:prstGeom prst="rect">
            <a:avLst/>
          </a:prstGeom>
          <a:solidFill>
            <a:srgbClr val="121F33"/>
          </a:solidFill>
          <a:ln>
            <a:solidFill>
              <a:srgbClr val="2D3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39512" y="2167128"/>
            <a:ext cx="21396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5F8FC"/>
                </a:solidFill>
                <a:latin typeface="Aptos"/>
              </a:rPr>
              <a:t>child PID / 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43800" y="2011680"/>
            <a:ext cx="2057400" cy="658368"/>
          </a:xfrm>
          <a:prstGeom prst="rect">
            <a:avLst/>
          </a:prstGeom>
          <a:solidFill>
            <a:srgbClr val="121F33"/>
          </a:solidFill>
          <a:ln>
            <a:solidFill>
              <a:srgbClr val="2D3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16952" y="2167128"/>
            <a:ext cx="1911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5F8FC"/>
                </a:solidFill>
                <a:latin typeface="Aptos"/>
              </a:rPr>
              <a:t>Creation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2640" y="2011680"/>
            <a:ext cx="1828800" cy="658368"/>
          </a:xfrm>
          <a:prstGeom prst="rect">
            <a:avLst/>
          </a:prstGeom>
          <a:solidFill>
            <a:srgbClr val="121F33"/>
          </a:solidFill>
          <a:ln>
            <a:solidFill>
              <a:srgbClr val="2D3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765792" y="2167128"/>
            <a:ext cx="16824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5F8FC"/>
                </a:solidFill>
                <a:latin typeface="Aptos"/>
              </a:rPr>
              <a:t>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2761488"/>
            <a:ext cx="2103120" cy="658368"/>
          </a:xfrm>
          <a:prstGeom prst="rect">
            <a:avLst/>
          </a:prstGeom>
          <a:solidFill>
            <a:srgbClr val="16243A"/>
          </a:solidFill>
          <a:ln>
            <a:solidFill>
              <a:srgbClr val="2D3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7512" y="2916936"/>
            <a:ext cx="19568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5F8FC"/>
                </a:solidFill>
                <a:latin typeface="Aptos"/>
              </a:rPr>
              <a:t>exec()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88920" y="2761488"/>
            <a:ext cx="2286000" cy="658368"/>
          </a:xfrm>
          <a:prstGeom prst="rect">
            <a:avLst/>
          </a:prstGeom>
          <a:solidFill>
            <a:srgbClr val="16243A"/>
          </a:solidFill>
          <a:ln>
            <a:solidFill>
              <a:srgbClr val="2D3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862072" y="2916936"/>
            <a:ext cx="21396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5F8FC"/>
                </a:solidFill>
                <a:latin typeface="Aptos"/>
              </a:rPr>
              <a:t>Replace image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66360" y="2761488"/>
            <a:ext cx="2286000" cy="658368"/>
          </a:xfrm>
          <a:prstGeom prst="rect">
            <a:avLst/>
          </a:prstGeom>
          <a:solidFill>
            <a:srgbClr val="16243A"/>
          </a:solidFill>
          <a:ln>
            <a:solidFill>
              <a:srgbClr val="2D3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39512" y="2916936"/>
            <a:ext cx="21396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5F8FC"/>
                </a:solidFill>
                <a:latin typeface="Aptos"/>
              </a:rPr>
              <a:t>only on failure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43800" y="2761488"/>
            <a:ext cx="2057400" cy="658368"/>
          </a:xfrm>
          <a:prstGeom prst="rect">
            <a:avLst/>
          </a:prstGeom>
          <a:solidFill>
            <a:srgbClr val="16243A"/>
          </a:solidFill>
          <a:ln>
            <a:solidFill>
              <a:srgbClr val="2D3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616952" y="2916936"/>
            <a:ext cx="1911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5F8FC"/>
                </a:solidFill>
                <a:latin typeface="Aptos"/>
              </a:rPr>
              <a:t>Execution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92640" y="2761488"/>
            <a:ext cx="1828800" cy="658368"/>
          </a:xfrm>
          <a:prstGeom prst="rect">
            <a:avLst/>
          </a:prstGeom>
          <a:solidFill>
            <a:srgbClr val="16243A"/>
          </a:solidFill>
          <a:ln>
            <a:solidFill>
              <a:srgbClr val="2D3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765792" y="2916936"/>
            <a:ext cx="16824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5F8FC"/>
                </a:solidFill>
                <a:latin typeface="Aptos"/>
              </a:rPr>
              <a:t>ps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3511296"/>
            <a:ext cx="2103120" cy="658368"/>
          </a:xfrm>
          <a:prstGeom prst="rect">
            <a:avLst/>
          </a:prstGeom>
          <a:solidFill>
            <a:srgbClr val="121F33"/>
          </a:solidFill>
          <a:ln>
            <a:solidFill>
              <a:srgbClr val="2D3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7512" y="3666744"/>
            <a:ext cx="19568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5F8FC"/>
                </a:solidFill>
                <a:latin typeface="Aptos"/>
              </a:rPr>
              <a:t>wait()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88920" y="3511296"/>
            <a:ext cx="2286000" cy="658368"/>
          </a:xfrm>
          <a:prstGeom prst="rect">
            <a:avLst/>
          </a:prstGeom>
          <a:solidFill>
            <a:srgbClr val="121F33"/>
          </a:solidFill>
          <a:ln>
            <a:solidFill>
              <a:srgbClr val="2D3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862072" y="3666744"/>
            <a:ext cx="21396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5F8FC"/>
                </a:solidFill>
                <a:latin typeface="Aptos"/>
              </a:rPr>
              <a:t>Reap child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66360" y="3511296"/>
            <a:ext cx="2286000" cy="658368"/>
          </a:xfrm>
          <a:prstGeom prst="rect">
            <a:avLst/>
          </a:prstGeom>
          <a:solidFill>
            <a:srgbClr val="121F33"/>
          </a:solidFill>
          <a:ln>
            <a:solidFill>
              <a:srgbClr val="2D3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239512" y="3666744"/>
            <a:ext cx="21396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5F8FC"/>
                </a:solidFill>
                <a:latin typeface="Aptos"/>
              </a:rPr>
              <a:t>child PID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43800" y="3511296"/>
            <a:ext cx="2057400" cy="658368"/>
          </a:xfrm>
          <a:prstGeom prst="rect">
            <a:avLst/>
          </a:prstGeom>
          <a:solidFill>
            <a:srgbClr val="121F33"/>
          </a:solidFill>
          <a:ln>
            <a:solidFill>
              <a:srgbClr val="2D3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616952" y="3666744"/>
            <a:ext cx="1911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5F8FC"/>
                </a:solidFill>
                <a:latin typeface="Aptos"/>
              </a:rPr>
              <a:t>Sync/cleanup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92640" y="3511296"/>
            <a:ext cx="1828800" cy="658368"/>
          </a:xfrm>
          <a:prstGeom prst="rect">
            <a:avLst/>
          </a:prstGeom>
          <a:solidFill>
            <a:srgbClr val="121F33"/>
          </a:solidFill>
          <a:ln>
            <a:solidFill>
              <a:srgbClr val="2D3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765792" y="3666744"/>
            <a:ext cx="16824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5F8FC"/>
                </a:solidFill>
                <a:latin typeface="Aptos"/>
              </a:rPr>
              <a:t>ps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" y="4261104"/>
            <a:ext cx="2103120" cy="658368"/>
          </a:xfrm>
          <a:prstGeom prst="rect">
            <a:avLst/>
          </a:prstGeom>
          <a:solidFill>
            <a:srgbClr val="16243A"/>
          </a:solidFill>
          <a:ln>
            <a:solidFill>
              <a:srgbClr val="2D3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67512" y="4416552"/>
            <a:ext cx="19568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5F8FC"/>
                </a:solidFill>
                <a:latin typeface="Aptos"/>
              </a:rPr>
              <a:t>exit()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88920" y="4261104"/>
            <a:ext cx="2286000" cy="658368"/>
          </a:xfrm>
          <a:prstGeom prst="rect">
            <a:avLst/>
          </a:prstGeom>
          <a:solidFill>
            <a:srgbClr val="16243A"/>
          </a:solidFill>
          <a:ln>
            <a:solidFill>
              <a:srgbClr val="2D3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862072" y="4416552"/>
            <a:ext cx="21396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5F8FC"/>
                </a:solidFill>
                <a:latin typeface="Aptos"/>
              </a:rPr>
              <a:t>Terminate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66360" y="4261104"/>
            <a:ext cx="2286000" cy="658368"/>
          </a:xfrm>
          <a:prstGeom prst="rect">
            <a:avLst/>
          </a:prstGeom>
          <a:solidFill>
            <a:srgbClr val="16243A"/>
          </a:solidFill>
          <a:ln>
            <a:solidFill>
              <a:srgbClr val="2D3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239512" y="4416552"/>
            <a:ext cx="21396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5F8FC"/>
                </a:solidFill>
                <a:latin typeface="Aptos"/>
              </a:rPr>
              <a:t>does not return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43800" y="4261104"/>
            <a:ext cx="2057400" cy="658368"/>
          </a:xfrm>
          <a:prstGeom prst="rect">
            <a:avLst/>
          </a:prstGeom>
          <a:solidFill>
            <a:srgbClr val="16243A"/>
          </a:solidFill>
          <a:ln>
            <a:solidFill>
              <a:srgbClr val="2D3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616952" y="4416552"/>
            <a:ext cx="1911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5F8FC"/>
                </a:solidFill>
                <a:latin typeface="Aptos"/>
              </a:rPr>
              <a:t>Termination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692640" y="4261104"/>
            <a:ext cx="1828800" cy="658368"/>
          </a:xfrm>
          <a:prstGeom prst="rect">
            <a:avLst/>
          </a:prstGeom>
          <a:solidFill>
            <a:srgbClr val="16243A"/>
          </a:solidFill>
          <a:ln>
            <a:solidFill>
              <a:srgbClr val="2D3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765792" y="4416552"/>
            <a:ext cx="16824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5F8FC"/>
                </a:solidFill>
                <a:latin typeface="Aptos"/>
              </a:rPr>
              <a:t>echo $?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4360" y="5010912"/>
            <a:ext cx="2103120" cy="658368"/>
          </a:xfrm>
          <a:prstGeom prst="rect">
            <a:avLst/>
          </a:prstGeom>
          <a:solidFill>
            <a:srgbClr val="121F33"/>
          </a:solidFill>
          <a:ln>
            <a:solidFill>
              <a:srgbClr val="2D3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67512" y="5166360"/>
            <a:ext cx="19568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5F8FC"/>
                </a:solidFill>
                <a:latin typeface="Aptos"/>
              </a:rPr>
              <a:t>getpid()/getppid()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88920" y="5010912"/>
            <a:ext cx="2286000" cy="658368"/>
          </a:xfrm>
          <a:prstGeom prst="rect">
            <a:avLst/>
          </a:prstGeom>
          <a:solidFill>
            <a:srgbClr val="121F33"/>
          </a:solidFill>
          <a:ln>
            <a:solidFill>
              <a:srgbClr val="2D3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862072" y="5166360"/>
            <a:ext cx="21396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5F8FC"/>
                </a:solidFill>
                <a:latin typeface="Aptos"/>
              </a:rPr>
              <a:t>Show PID / PPID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166360" y="5010912"/>
            <a:ext cx="2286000" cy="658368"/>
          </a:xfrm>
          <a:prstGeom prst="rect">
            <a:avLst/>
          </a:prstGeom>
          <a:solidFill>
            <a:srgbClr val="121F33"/>
          </a:solidFill>
          <a:ln>
            <a:solidFill>
              <a:srgbClr val="2D3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239512" y="5166360"/>
            <a:ext cx="21396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5F8FC"/>
                </a:solidFill>
                <a:latin typeface="Aptos"/>
              </a:rPr>
              <a:t>current / parent PID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43800" y="5010912"/>
            <a:ext cx="2057400" cy="658368"/>
          </a:xfrm>
          <a:prstGeom prst="rect">
            <a:avLst/>
          </a:prstGeom>
          <a:solidFill>
            <a:srgbClr val="121F33"/>
          </a:solidFill>
          <a:ln>
            <a:solidFill>
              <a:srgbClr val="2D3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616952" y="5166360"/>
            <a:ext cx="1911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5F8FC"/>
                </a:solidFill>
                <a:latin typeface="Aptos"/>
              </a:rPr>
              <a:t>Observation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692640" y="5010912"/>
            <a:ext cx="1828800" cy="658368"/>
          </a:xfrm>
          <a:prstGeom prst="rect">
            <a:avLst/>
          </a:prstGeom>
          <a:solidFill>
            <a:srgbClr val="121F33"/>
          </a:solidFill>
          <a:ln>
            <a:solidFill>
              <a:srgbClr val="2D3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765792" y="5166360"/>
            <a:ext cx="16824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5F8FC"/>
                </a:solidFill>
                <a:latin typeface="Aptos"/>
              </a:rPr>
              <a:t>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07040" y="-457200"/>
            <a:ext cx="2011680" cy="2011680"/>
          </a:xfrm>
          <a:prstGeom prst="ellipse">
            <a:avLst/>
          </a:prstGeom>
          <a:solidFill>
            <a:srgbClr val="2CD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55680" y="548640"/>
            <a:ext cx="914400" cy="914400"/>
          </a:xfrm>
          <a:prstGeom prst="ellipse">
            <a:avLst/>
          </a:prstGeom>
          <a:solidFill>
            <a:srgbClr val="87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2CD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6200000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600" b="1">
                <a:solidFill>
                  <a:srgbClr val="F5F8FC"/>
                </a:solidFill>
                <a:latin typeface="Aptos Display"/>
              </a:rPr>
              <a:t>14 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41832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B8CD"/>
                </a:solidFill>
                <a:latin typeface="Aptos"/>
              </a:rPr>
              <a:t>A process is a living execution context managed by the Linux kernel.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282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AB8CD"/>
                </a:solidFill>
                <a:latin typeface="Aptos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3429000" cy="2148840"/>
          </a:xfrm>
          <a:prstGeom prst="roundRect">
            <a:avLst/>
          </a:prstGeom>
          <a:solidFill>
            <a:srgbClr val="18263E"/>
          </a:solidFill>
          <a:ln>
            <a:solidFill>
              <a:srgbClr val="2A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64008" cy="2148840"/>
          </a:xfrm>
          <a:prstGeom prst="rect">
            <a:avLst/>
          </a:prstGeom>
          <a:solidFill>
            <a:srgbClr val="46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554480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682FF"/>
                </a:solidFill>
                <a:latin typeface="Aptos"/>
              </a:rPr>
              <a:t>Create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039112"/>
            <a:ext cx="3044952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F5F8FC"/>
                </a:solidFill>
                <a:latin typeface="Aptos"/>
              </a:rPr>
              <a:t>fork() establishes a new process context.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429000" cy="2148840"/>
          </a:xfrm>
          <a:prstGeom prst="roundRect">
            <a:avLst/>
          </a:prstGeom>
          <a:solidFill>
            <a:srgbClr val="18263E"/>
          </a:solidFill>
          <a:ln>
            <a:solidFill>
              <a:srgbClr val="2A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417320"/>
            <a:ext cx="64008" cy="2148840"/>
          </a:xfrm>
          <a:prstGeom prst="rect">
            <a:avLst/>
          </a:prstGeom>
          <a:solidFill>
            <a:srgbClr val="2CD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1554480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CD3C3"/>
                </a:solidFill>
                <a:latin typeface="Aptos"/>
              </a:rPr>
              <a:t>Execute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039112"/>
            <a:ext cx="3044952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F5F8FC"/>
                </a:solidFill>
                <a:latin typeface="Aptos"/>
              </a:rPr>
              <a:t>Scheduling and exec() determine what code runs.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417320"/>
            <a:ext cx="3429000" cy="2148840"/>
          </a:xfrm>
          <a:prstGeom prst="roundRect">
            <a:avLst/>
          </a:prstGeom>
          <a:solidFill>
            <a:srgbClr val="18263E"/>
          </a:solidFill>
          <a:ln>
            <a:solidFill>
              <a:srgbClr val="2A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1417320"/>
            <a:ext cx="64008" cy="2148840"/>
          </a:xfrm>
          <a:prstGeom prst="rect">
            <a:avLst/>
          </a:prstGeom>
          <a:solidFill>
            <a:srgbClr val="FF5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1554480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5F64"/>
                </a:solidFill>
                <a:latin typeface="Aptos"/>
              </a:rPr>
              <a:t>Finish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039112"/>
            <a:ext cx="3044952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F5F8FC"/>
                </a:solidFill>
                <a:latin typeface="Aptos"/>
              </a:rPr>
              <a:t>exit + wait completes the lifecycle cleanly.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069080"/>
            <a:ext cx="10058400" cy="14173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rPr/>
              <a:t>• The program demonstrates fork() → exec() → wait() → exit() in Ubuntu.
• PIDs, PPIDs, ls output and exit status make the lifecycle visible.
• The project connects OS process concepts with real Linux execution.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07040" y="-457200"/>
            <a:ext cx="2011680" cy="2011680"/>
          </a:xfrm>
          <a:prstGeom prst="ellipse">
            <a:avLst/>
          </a:prstGeom>
          <a:solidFill>
            <a:srgbClr val="87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55680" y="548640"/>
            <a:ext cx="914400" cy="914400"/>
          </a:xfrm>
          <a:prstGeom prst="ellipse">
            <a:avLst/>
          </a:prstGeom>
          <a:solidFill>
            <a:srgbClr val="87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87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729" y="2617352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600" b="1" dirty="0">
                <a:solidFill>
                  <a:srgbClr val="F5F8FC"/>
                </a:solidFill>
                <a:latin typeface="Aptos Display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282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AB8CD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1432</Words>
  <Application>Microsoft Office PowerPoint</Application>
  <PresentationFormat>Widescreen</PresentationFormat>
  <Paragraphs>187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 Creation, Execution and Termination in Linux</dc:title>
  <dc:subject>Operating Systems Project</dc:subject>
  <dc:creator>T. Tejaswini</dc:creator>
  <cp:keywords>Operating Systems, Linux, Process Creation, fork, exec, wait, exit</cp:keywords>
  <dc:description>generated using python-pptx</dc:description>
  <cp:lastModifiedBy>bhavitha raavi</cp:lastModifiedBy>
  <cp:revision>2</cp:revision>
  <dcterms:created xsi:type="dcterms:W3CDTF">2013-01-27T09:14:16Z</dcterms:created>
  <dcterms:modified xsi:type="dcterms:W3CDTF">2026-09-24T04:06:13Z</dcterms:modified>
  <cp:category/>
</cp:coreProperties>
</file>